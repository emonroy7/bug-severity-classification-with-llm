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4C15B9-4189-4712-B026-80220F0D3C05}">
  <a:tblStyle styleId="{0C4C15B9-4189-4712-B026-80220F0D3C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f1fa755b4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f1fa755b4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187aea730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0187aea730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178cf57d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0178cf57d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f1fa755b4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f1fa755b4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e35bad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d6e35bad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178cf57d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178cf57d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dbf844d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1dbf844d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f8e6e17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f8e6e17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178cf57d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0178cf57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f8e6e171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f8e6e171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f8e6e171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1f8e6e171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f8e6e171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f8e6e171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f8e6e171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1f8e6e171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f8e6e171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1f8e6e171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fa761c0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fa761c0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0178cf57d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0178cf57d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0187aea730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0187aea730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infobest.ro/navigating-bug-severity-and-priority-in-software-testing/?fbclid=IwY2xjawGMgc9leHRuA2FlbQIxMAABHcbI_39Os4JBq3SBOxDaf54zZN0_Ms7gEy39KFs6t-HcaTnu1L8_9ip7_Q_aem_cpnZjxlTbIfxGVBxasIg_g" TargetMode="External"/><Relationship Id="rId4" Type="http://schemas.openxmlformats.org/officeDocument/2006/relationships/hyperlink" Target="https://www.sciencedirect.com/science/article/pii/S1877050915032238" TargetMode="External"/><Relationship Id="rId5" Type="http://schemas.openxmlformats.org/officeDocument/2006/relationships/hyperlink" Target="https://www.iitrpr.ac.in/library/pdf/IEEE.pdf" TargetMode="External"/><Relationship Id="rId6" Type="http://schemas.openxmlformats.org/officeDocument/2006/relationships/hyperlink" Target="https://link.springer.com/article/10.1007/s10664-024-10510-3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017175" y="1215525"/>
            <a:ext cx="6792900" cy="198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Contrastive Learning Approach to Bug Severity Classification with Large Language Model Embeddings</a:t>
            </a:r>
            <a:endParaRPr b="1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515125" y="3383775"/>
            <a:ext cx="6146700" cy="1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Presented by: </a:t>
            </a:r>
            <a:br>
              <a:rPr lang="en"/>
            </a:br>
            <a:r>
              <a:rPr lang="en"/>
              <a:t>Mosarrat Rumman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Anushka Zaman</a:t>
            </a:r>
            <a:br>
              <a:rPr lang="en"/>
            </a:br>
            <a:r>
              <a:rPr lang="en"/>
              <a:t>Emon Roy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2804700" y="627375"/>
            <a:ext cx="34827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CSCI 6100G Final Project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819150" y="1721000"/>
            <a:ext cx="7505700" cy="27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b="1" lang="en" sz="1500"/>
              <a:t>What is Bug Severity Report?</a:t>
            </a:r>
            <a:endParaRPr b="1" sz="1500"/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The Level of Impact of Bugs or Errors</a:t>
            </a:r>
            <a:endParaRPr sz="1500"/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Assesses the impact of a bug on software functionality, performance, or user experience</a:t>
            </a:r>
            <a:endParaRPr sz="1500"/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Helps developers prioritize fixes based on the bug's criticality</a:t>
            </a:r>
            <a:endParaRPr sz="1500"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7" name="Google Shape;137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Severity Levels (Commonly Used)</a:t>
            </a:r>
            <a:endParaRPr/>
          </a:p>
        </p:txBody>
      </p:sp>
      <p:pic>
        <p:nvPicPr>
          <p:cNvPr id="143" name="Google Shape;143;p15"/>
          <p:cNvPicPr preferRelativeResize="0"/>
          <p:nvPr/>
        </p:nvPicPr>
        <p:blipFill rotWithShape="1">
          <a:blip r:embed="rId3">
            <a:alphaModFix/>
          </a:blip>
          <a:srcRect b="0" l="-959" r="48556" t="0"/>
          <a:stretch/>
        </p:blipFill>
        <p:spPr>
          <a:xfrm>
            <a:off x="1990425" y="1416975"/>
            <a:ext cx="4135975" cy="27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3375950" y="4296700"/>
            <a:ext cx="23994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 1: Bug severity levels [1]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423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590800" y="1319025"/>
            <a:ext cx="7734300" cy="31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ct val="100000"/>
              <a:buChar char="●"/>
            </a:pPr>
            <a:r>
              <a:rPr lang="en" sz="2400">
                <a:solidFill>
                  <a:srgbClr val="1F1F1F"/>
                </a:solidFill>
              </a:rPr>
              <a:t>Using traditional machine learning methods like Naive Bayes Multinomial, K-Nearest Neighbor algorithm to create dictionary of critical term specifying bug severity. [2]</a:t>
            </a:r>
            <a:endParaRPr sz="2400">
              <a:solidFill>
                <a:srgbClr val="1F1F1F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Char char="●"/>
            </a:pPr>
            <a:r>
              <a:rPr lang="en" sz="2400">
                <a:solidFill>
                  <a:srgbClr val="1F1F1F"/>
                </a:solidFill>
              </a:rPr>
              <a:t>Using CNN-LSTM model combined with topic-based feature selection,achieving F-measures of 90.62% and 93.22% on Mozilla data, outperforming baseline models like DeepSeverity and EWD-Multinomial on Eclipse and Mozilla projects. [3]</a:t>
            </a:r>
            <a:endParaRPr sz="2400">
              <a:solidFill>
                <a:srgbClr val="1F1F1F"/>
              </a:solidFill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Char char="●"/>
            </a:pPr>
            <a:r>
              <a:rPr lang="en" sz="2400">
                <a:solidFill>
                  <a:srgbClr val="1F1F1F"/>
                </a:solidFill>
              </a:rPr>
              <a:t>Using word embedding based model like Word2Vec, GloVe which provide single vector representations per word, whereas ELMo and BERT adapt embeddings based on word context, aiding complex language tasks. [4]</a:t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819150" y="556100"/>
            <a:ext cx="75057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 of existing approaches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711050" y="1373375"/>
            <a:ext cx="7908000" cy="3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b="1" lang="en" sz="1500"/>
              <a:t>LLM embeddings</a:t>
            </a:r>
            <a:endParaRPr b="1" sz="1500"/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Contextual Understanding</a:t>
            </a:r>
            <a:endParaRPr sz="1500"/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Transfer Learning</a:t>
            </a:r>
            <a:endParaRPr sz="1500"/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High-Dimensional Representation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❏"/>
            </a:pPr>
            <a:r>
              <a:rPr b="1" lang="en" sz="1500"/>
              <a:t>Contrastive learning</a:t>
            </a:r>
            <a:endParaRPr b="1" sz="1500"/>
          </a:p>
          <a:p>
            <a:pPr indent="-3238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 Model learns to distinguish between similar and dissimilar examples by comparing pairs of data.</a:t>
            </a:r>
            <a:endParaRPr sz="1500"/>
          </a:p>
          <a:p>
            <a:pPr indent="-3238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Improved Generalization</a:t>
            </a:r>
            <a:endParaRPr sz="1500"/>
          </a:p>
          <a:p>
            <a:pPr indent="-3238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/>
              <a:t>Efficient Learning with Limited Labels.</a:t>
            </a:r>
            <a:endParaRPr sz="1500"/>
          </a:p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19150" y="856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contribution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687250" y="1450625"/>
            <a:ext cx="7637400" cy="29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Contrastive Learning-Based Fine-Tuning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 that enhances semantic representation and generalization to to unseen, diverse, and imbalanced datasets.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Comprehensive Experiments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Provided a detailed comparison of the proposed model with baseline approaches across diverse datasets.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 Cross-Project Performance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Demonstrated the ability of the proposed model to generalize effectively across unseen projects.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Insights on Data Characteristics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Analyzed how dataset size and class imbalance impact model performance.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Practical Solution for Industry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Delivered a scalable, efficient model for automated bug severity classification in real-world software projects.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750" y="258400"/>
            <a:ext cx="8306601" cy="28756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2311850" y="4250925"/>
            <a:ext cx="23922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 2: Overview of proposed approach</a:t>
            </a:r>
            <a:endParaRPr b="1"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309125" y="3481426"/>
            <a:ext cx="1871700" cy="9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 cleansing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Tokenization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Positive and negative pairs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2927250" y="3172075"/>
            <a:ext cx="3410100" cy="15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Generates embeddings in pairs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contrastive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loss is used to calculate cosine similarity of two embeddings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Trains and updates weight through backpropagation and optimization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6248850" y="3196425"/>
            <a:ext cx="2392200" cy="12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linear dense layer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single bug report description is fed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Predict severity level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2675200" y="4551525"/>
            <a:ext cx="2908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4080000" y="809050"/>
            <a:ext cx="10221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Contrastive learning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25" y="192600"/>
            <a:ext cx="8725700" cy="474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677800" y="5085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Architecture details</a:t>
            </a:r>
            <a:endParaRPr/>
          </a:p>
        </p:txBody>
      </p:sp>
      <p:sp>
        <p:nvSpPr>
          <p:cNvPr id="192" name="Google Shape;192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93" name="Google Shape;193;p21"/>
          <p:cNvGraphicFramePr/>
          <p:nvPr/>
        </p:nvGraphicFramePr>
        <p:xfrm>
          <a:off x="887275" y="127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{0C4C15B9-4189-4712-B026-80220F0D3C05}</a:tableStyleId>
              </a:tblPr>
              <a:tblGrid>
                <a:gridCol w="2347225"/>
                <a:gridCol w="4891775"/>
              </a:tblGrid>
              <a:tr h="40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Component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Details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0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Backbone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CodeBERT (Roberta-based pre-trained model)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Input Length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256 tokens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Embedding Dimension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Contrastive Learning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NT-Xent Loss, Temperature=0.5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Classification Head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Fully connected layer (768 → num classes)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Loss Function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Cross-Entropy Loss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Optimizer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Adam (Learning Rate = 2e-5)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type="title"/>
          </p:nvPr>
        </p:nvSpPr>
        <p:spPr>
          <a:xfrm>
            <a:off x="565400" y="454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</a:t>
            </a:r>
            <a:endParaRPr/>
          </a:p>
        </p:txBody>
      </p:sp>
      <p:sp>
        <p:nvSpPr>
          <p:cNvPr id="199" name="Google Shape;199;p22"/>
          <p:cNvSpPr txBox="1"/>
          <p:nvPr>
            <p:ph idx="1" type="body"/>
          </p:nvPr>
        </p:nvSpPr>
        <p:spPr>
          <a:xfrm>
            <a:off x="653475" y="1210525"/>
            <a:ext cx="7777200" cy="3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Research Questions:</a:t>
            </a:r>
            <a:endParaRPr b="1" sz="15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35"/>
              <a:t>RQ1</a:t>
            </a:r>
            <a:r>
              <a:rPr lang="en" sz="1435"/>
              <a:t>: How effective is the proposed model in classifying bug severity within the </a:t>
            </a:r>
            <a:r>
              <a:rPr b="1" lang="en" sz="1435"/>
              <a:t>same project </a:t>
            </a:r>
            <a:r>
              <a:rPr lang="en" sz="1435"/>
              <a:t>in terms of accuracy,precision, and recall?</a:t>
            </a:r>
            <a:endParaRPr sz="1435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35"/>
              <a:t>RQ2</a:t>
            </a:r>
            <a:r>
              <a:rPr lang="en" sz="1435"/>
              <a:t>: How does the proposed model’s performance vary when trained on one or more project and tested on a completely different project, i,e., </a:t>
            </a:r>
            <a:r>
              <a:rPr b="1" lang="en" sz="1435"/>
              <a:t>cross project </a:t>
            </a:r>
            <a:r>
              <a:rPr lang="en" sz="1435"/>
              <a:t>performance</a:t>
            </a:r>
            <a:r>
              <a:rPr lang="en" sz="1435"/>
              <a:t>?</a:t>
            </a:r>
            <a:endParaRPr sz="1435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35"/>
              <a:t>RQ3: </a:t>
            </a:r>
            <a:r>
              <a:rPr lang="en" sz="1435"/>
              <a:t>How does training </a:t>
            </a:r>
            <a:r>
              <a:rPr b="1" lang="en" sz="1435"/>
              <a:t>with contrastive learning</a:t>
            </a:r>
            <a:r>
              <a:rPr lang="en" sz="1435"/>
              <a:t> improve bug severity classification compared to </a:t>
            </a:r>
            <a:r>
              <a:rPr b="1" lang="en" sz="1435"/>
              <a:t>non-contrastive approach</a:t>
            </a:r>
            <a:r>
              <a:rPr lang="en" sz="1435"/>
              <a:t>?</a:t>
            </a:r>
            <a:endParaRPr sz="1435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35"/>
              <a:t>RQ4: </a:t>
            </a:r>
            <a:r>
              <a:rPr lang="en" sz="1435"/>
              <a:t>How well do </a:t>
            </a:r>
            <a:r>
              <a:rPr b="1" lang="en" sz="1435"/>
              <a:t>Large Language Model</a:t>
            </a:r>
            <a:r>
              <a:rPr lang="en" sz="1435"/>
              <a:t>s classify bug severity across applications compared to </a:t>
            </a:r>
            <a:r>
              <a:rPr b="1" lang="en" sz="1435"/>
              <a:t>traditional word embedding methods</a:t>
            </a:r>
            <a:r>
              <a:rPr lang="en" sz="1435"/>
              <a:t> like Doc2Vec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00" name="Google Shape;200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529200" y="628650"/>
            <a:ext cx="8109000" cy="4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Experiment 1: Train and Test on the Same Project</a:t>
            </a:r>
            <a:endParaRPr b="1" sz="15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Individual Pits (A, B, C, D &amp; E), Combined Pits and Mozilla datasets are split into 80% training and 20% test data. </a:t>
            </a:r>
            <a:r>
              <a:rPr b="1" lang="en" sz="1400"/>
              <a:t>Addresses RQ1.</a:t>
            </a:r>
            <a:r>
              <a:rPr lang="en" sz="1400"/>
              <a:t>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Experiment 2: Train on One or More Projects and Test on an Unseen Project</a:t>
            </a:r>
            <a:endParaRPr b="1" sz="15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The models are trained on various combinations of Pits datasets and tested on a different, unseen Pits project. Goal is to evaluate the generalizability of the models. </a:t>
            </a:r>
            <a:r>
              <a:rPr b="1" lang="en" sz="1400"/>
              <a:t>Addresses RQ2.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Experiment 3: Contrastive Learning vs. Non-Contrastive Learning</a:t>
            </a:r>
            <a:endParaRPr b="1" sz="15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CodeBERT is fine tuned with Contrastive learning and without </a:t>
            </a:r>
            <a:r>
              <a:rPr lang="en" sz="1400"/>
              <a:t>contrastive</a:t>
            </a:r>
            <a:r>
              <a:rPr lang="en" sz="1400"/>
              <a:t> learning and the performance of these models are tested on Experiment 1 and 2 settings. </a:t>
            </a:r>
            <a:r>
              <a:rPr b="1" lang="en" sz="1400"/>
              <a:t>Addresses RQ3.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Experiment 4: LLMs vs. Traditional Embedding Methods</a:t>
            </a:r>
            <a:endParaRPr b="1" sz="15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Baseline research Doc2vec+MLP [5] is recreated and the performance is compared with funed tune LLMs in Experiment 1 and 2 settings. Doc2vec+MLP is trained on </a:t>
            </a:r>
            <a:r>
              <a:rPr b="1" lang="en" sz="1400"/>
              <a:t>bug summaries </a:t>
            </a:r>
            <a:r>
              <a:rPr lang="en" sz="1400"/>
              <a:t>and </a:t>
            </a:r>
            <a:r>
              <a:rPr b="1" lang="en" sz="1400"/>
              <a:t>bug report description </a:t>
            </a:r>
            <a:r>
              <a:rPr lang="en" sz="1400"/>
              <a:t>separately for fair evaluation. </a:t>
            </a:r>
            <a:r>
              <a:rPr b="1" lang="en" sz="1400"/>
              <a:t>Addresses RQ4.</a:t>
            </a:r>
            <a:endParaRPr sz="1400"/>
          </a:p>
        </p:txBody>
      </p:sp>
      <p:sp>
        <p:nvSpPr>
          <p:cNvPr id="206" name="Google Shape;20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819150" y="4222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12" name="Google Shape;212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625" y="931863"/>
            <a:ext cx="5715000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6131025" y="1463075"/>
            <a:ext cx="2681400" cy="28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➔"/>
            </a:pPr>
            <a:r>
              <a:rPr lang="en" sz="1200"/>
              <a:t>Results from Experiment 1, 3, and 4.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➔"/>
            </a:pPr>
            <a:r>
              <a:rPr lang="en" sz="1200"/>
              <a:t>LLm trained with </a:t>
            </a:r>
            <a:r>
              <a:rPr b="1" lang="en" sz="1200"/>
              <a:t>Contrastive Learning</a:t>
            </a:r>
            <a:r>
              <a:rPr lang="en" sz="1200"/>
              <a:t> outperforms other models in all datasets.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➔"/>
            </a:pPr>
            <a:r>
              <a:rPr lang="en" sz="1200"/>
              <a:t>Traditional methods like </a:t>
            </a:r>
            <a:r>
              <a:rPr b="1" lang="en" sz="1200"/>
              <a:t>Doc2Vec </a:t>
            </a:r>
            <a:r>
              <a:rPr lang="en" sz="1200"/>
              <a:t>performed better when trained on summaries.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Char char="➔"/>
            </a:pPr>
            <a:r>
              <a:rPr lang="en" sz="1200"/>
              <a:t>For simpler datasets like Pits D, all methods performed similarly, highlighting minimal dataset complexity.</a:t>
            </a:r>
            <a:endParaRPr sz="1200"/>
          </a:p>
        </p:txBody>
      </p:sp>
      <p:sp>
        <p:nvSpPr>
          <p:cNvPr id="215" name="Google Shape;215;p24"/>
          <p:cNvSpPr txBox="1"/>
          <p:nvPr/>
        </p:nvSpPr>
        <p:spPr>
          <a:xfrm>
            <a:off x="1107725" y="4356100"/>
            <a:ext cx="5632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Figure 5:  Performance comparison of different models on same project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" name="Google Shape;2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75" y="1027000"/>
            <a:ext cx="5310701" cy="328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811150" y="605500"/>
            <a:ext cx="4025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F1 score comparison on Unseen projects 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5608225" y="1291300"/>
            <a:ext cx="3255000" cy="3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➔"/>
            </a:pPr>
            <a:r>
              <a:rPr lang="en" sz="1200"/>
              <a:t>Results from Experiment 2, 3 and 4.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➔"/>
            </a:pPr>
            <a:r>
              <a:rPr lang="en" sz="1200"/>
              <a:t>LLM fined-tuned with contrastive learning outperforms other models in most cases.</a:t>
            </a:r>
            <a:endParaRPr sz="12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➔"/>
            </a:pPr>
            <a:r>
              <a:rPr lang="en" sz="1200"/>
              <a:t>On challenging datasets like testing on </a:t>
            </a:r>
            <a:r>
              <a:rPr b="1" lang="en" sz="1200"/>
              <a:t>(B, C, E - D)</a:t>
            </a:r>
            <a:r>
              <a:rPr lang="en" sz="1200"/>
              <a:t> The dataset is highly </a:t>
            </a:r>
            <a:r>
              <a:rPr lang="en" sz="1200"/>
              <a:t>imbalance</a:t>
            </a:r>
            <a:r>
              <a:rPr lang="en" sz="1200"/>
              <a:t> and diverse. Contrastive Learning demonstrates robustness, outperforming both non-contrastive learning and Doc2Vec.</a:t>
            </a:r>
            <a:endParaRPr sz="12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➔"/>
            </a:pPr>
            <a:r>
              <a:rPr b="1" lang="en" sz="1200"/>
              <a:t>Doc2Vec</a:t>
            </a:r>
            <a:r>
              <a:rPr lang="en" sz="1200"/>
              <a:t> achieves the highest F1-Score (</a:t>
            </a:r>
            <a:r>
              <a:rPr b="1" lang="en" sz="1200"/>
              <a:t>0.8249</a:t>
            </a:r>
            <a:r>
              <a:rPr lang="en" sz="1200"/>
              <a:t>) for smaller datasets like </a:t>
            </a:r>
            <a:r>
              <a:rPr b="1" lang="en" sz="1200"/>
              <a:t>Pits (A,B-C)</a:t>
            </a:r>
            <a:r>
              <a:rPr lang="en" sz="1200"/>
              <a:t>, leveraging structured summaries effectively.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4" name="Google Shape;224;p25"/>
          <p:cNvSpPr txBox="1"/>
          <p:nvPr/>
        </p:nvSpPr>
        <p:spPr>
          <a:xfrm>
            <a:off x="766225" y="4285550"/>
            <a:ext cx="545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Figure 6:  Performance comparison of different models on unseen projects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819150" y="464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Explainability</a:t>
            </a:r>
            <a:r>
              <a:rPr lang="en"/>
              <a:t> of the proposed model</a:t>
            </a:r>
            <a:endParaRPr/>
          </a:p>
        </p:txBody>
      </p:sp>
      <p:sp>
        <p:nvSpPr>
          <p:cNvPr id="230" name="Google Shape;230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1" name="Google Shape;2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51" y="1157825"/>
            <a:ext cx="3700425" cy="302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73538"/>
            <a:ext cx="3700424" cy="299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/>
        </p:nvSpPr>
        <p:spPr>
          <a:xfrm>
            <a:off x="719675" y="4332100"/>
            <a:ext cx="3521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 7: LLM Embedding visualization without contrastive learning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6"/>
          <p:cNvSpPr txBox="1"/>
          <p:nvPr/>
        </p:nvSpPr>
        <p:spPr>
          <a:xfrm>
            <a:off x="4661363" y="4260850"/>
            <a:ext cx="3521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 8: </a:t>
            </a: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LLM Embedding visualization with contrastive learning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666750" y="5408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40" name="Google Shape;240;p27"/>
          <p:cNvSpPr txBox="1"/>
          <p:nvPr>
            <p:ph idx="1" type="body"/>
          </p:nvPr>
        </p:nvSpPr>
        <p:spPr>
          <a:xfrm>
            <a:off x="575825" y="1530500"/>
            <a:ext cx="7749000" cy="30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Contrastive Learning performs better on larger, richer and more diverse datasets.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LLMs (e.g., CodeBERT) outperform Doc2Vec on diverse datasets with unstructured descriptions.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Doc2Vec performs well on smaller datasets or structured summaries, requiring less computational power but struggles with long descriptions (accuracy &lt; 0.50 in cross-project evaluations).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Limitations:</a:t>
            </a:r>
            <a:endParaRPr b="1" sz="15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Class Imbalance in dataset - Models could benefit from a balanced dataset.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Computational cost - LLMs require huge computational resources compared to traditional embedding models.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Pre-Trained Model Dependency: Dependence on Code-BERT embeddings may fail to capture domain-specific nuances in bug reports.</a:t>
            </a:r>
            <a:endParaRPr/>
          </a:p>
        </p:txBody>
      </p:sp>
      <p:sp>
        <p:nvSpPr>
          <p:cNvPr id="241" name="Google Shape;241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idx="1" type="body"/>
          </p:nvPr>
        </p:nvSpPr>
        <p:spPr>
          <a:xfrm>
            <a:off x="597475" y="1552150"/>
            <a:ext cx="7727400" cy="28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Evaluate lightweight models like TinyBERT and MobileBERT for bug classification which as cost effective.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Expand testing on more diverse datasets to assess scalability and robustness.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8" name="Google Shape;248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54" name="Google Shape;254;p29"/>
          <p:cNvSpPr txBox="1"/>
          <p:nvPr>
            <p:ph idx="1" type="body"/>
          </p:nvPr>
        </p:nvSpPr>
        <p:spPr>
          <a:xfrm>
            <a:off x="819150" y="1685925"/>
            <a:ext cx="7571700" cy="28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100">
                <a:solidFill>
                  <a:srgbClr val="000000"/>
                </a:solidFill>
              </a:rPr>
              <a:t>Baciu, I. (2024, April 25). </a:t>
            </a:r>
            <a:r>
              <a:rPr i="1" lang="en" sz="1100">
                <a:solidFill>
                  <a:srgbClr val="000000"/>
                </a:solidFill>
              </a:rPr>
              <a:t>Navigating bug severity and priority in software testing</a:t>
            </a:r>
            <a:r>
              <a:rPr lang="en" sz="1100">
                <a:solidFill>
                  <a:srgbClr val="000000"/>
                </a:solidFill>
              </a:rPr>
              <a:t>. Infobest Software Outsourcing Company. Retrieved from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https://www.infobest.ro/navigating-bug-severity-and-priority-in-software-testing/?fbclid=IwY2xjawGMgc9leHRuA2FlbQIxMAABHcbI_39Os4JBq3SBOxDaf54zZN0_Ms7gEy39KFs6t-HcaTnu1L8_9ip7_Q_aem_cpnZjxlTbIfxGVBxasIg_g</a:t>
            </a:r>
            <a:r>
              <a:rPr lang="en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100">
                <a:solidFill>
                  <a:srgbClr val="000000"/>
                </a:solidFill>
              </a:rPr>
              <a:t>Sharma, G., Sharma, S., &amp; Gujral, S. (2015, November 21). </a:t>
            </a:r>
            <a:r>
              <a:rPr i="1" lang="en" sz="1100">
                <a:solidFill>
                  <a:srgbClr val="000000"/>
                </a:solidFill>
              </a:rPr>
              <a:t>A novel way of assessing software bug severity using dictionary of critical terms</a:t>
            </a:r>
            <a:r>
              <a:rPr lang="en" sz="1100">
                <a:solidFill>
                  <a:srgbClr val="000000"/>
                </a:solidFill>
              </a:rPr>
              <a:t>. Procedia Computer Science. Retrieved from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https://www.sciencedirect.com/science/article/pii/S1877050915032238</a:t>
            </a:r>
            <a:r>
              <a:rPr lang="en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en" sz="1100">
                <a:solidFill>
                  <a:srgbClr val="000000"/>
                </a:solidFill>
              </a:rPr>
              <a:t>Kim, J., &amp; Yang, G. (n.d.). Bug Severity Prediction Algorithm Using Topic-Based Feature Selection and CNN-LSTM Algorithm. Retrieved from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https://www.iitrpr.ac.in/library/pdf/IEEE.pdf</a:t>
            </a:r>
            <a:r>
              <a:rPr lang="en" sz="1100">
                <a:solidFill>
                  <a:srgbClr val="000000"/>
                </a:solidFill>
              </a:rPr>
              <a:t> 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en" sz="1100">
                <a:solidFill>
                  <a:srgbClr val="000000"/>
                </a:solidFill>
              </a:rPr>
              <a:t> Chen, B., Zou, W., Cai, B., Meng, Q., Liu, W., Li, P., &amp; Chen, L. (2024, July 25). </a:t>
            </a:r>
            <a:r>
              <a:rPr i="1" lang="en" sz="1100">
                <a:solidFill>
                  <a:srgbClr val="000000"/>
                </a:solidFill>
              </a:rPr>
              <a:t>An empirical study on the potential of word embedding techniques in bug report management tasks - empirical software engineering</a:t>
            </a:r>
            <a:r>
              <a:rPr lang="en" sz="1100">
                <a:solidFill>
                  <a:srgbClr val="000000"/>
                </a:solidFill>
              </a:rPr>
              <a:t>. Retrieved from. 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https://link.springer.com/article/10.1007/s10664-024-10510-3</a:t>
            </a:r>
            <a:r>
              <a:rPr lang="en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</a:pPr>
            <a:r>
              <a:rPr lang="en" sz="1100">
                <a:solidFill>
                  <a:srgbClr val="000000"/>
                </a:solidFill>
              </a:rPr>
              <a:t>Arokiam, J., &amp; Bradbury, J. S. (2020, June). Automatically predicting bug severity early in the development process. In Proceedings of the ACM/IEEE 42nd International Conference on Software Engineering: New Ideas and Emerging Results (pp. 17-20).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819150" y="1853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61" name="Google Shape;261;p3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